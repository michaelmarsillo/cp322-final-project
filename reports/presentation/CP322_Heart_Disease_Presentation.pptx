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6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Heart Disease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E86AB"/>
                </a:solidFill>
                <a:latin typeface="Calibri"/>
              </a:rPr>
              <a:t>Using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92608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  <a:latin typeface="Calibri"/>
              </a:rPr>
              <a:t>CP322 </a:t>
            </a:r>
            <a:r>
              <a:rPr lang="en-CA" sz="1600" b="0" i="0">
                <a:solidFill>
                  <a:srgbClr val="FFFFFF"/>
                </a:solidFill>
                <a:latin typeface="Calibri"/>
              </a:rPr>
              <a:t>-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 Machine Learning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AABBCC"/>
                </a:solidFill>
                <a:latin typeface="Calibri"/>
              </a:rPr>
              <a:t>Michael Marsillo &amp; Gurshan Sidhar
Wilfrid Laurier University  |  April </a:t>
            </a:r>
            <a:r>
              <a:rPr lang="en-CA" sz="1500" b="0" i="0" dirty="0">
                <a:solidFill>
                  <a:srgbClr val="AABBCC"/>
                </a:solidFill>
                <a:latin typeface="Calibri"/>
              </a:rPr>
              <a:t>1</a:t>
            </a:r>
            <a:r>
              <a:rPr lang="en-CA" sz="1500" b="0" i="0" baseline="30000" dirty="0">
                <a:solidFill>
                  <a:srgbClr val="AABBCC"/>
                </a:solidFill>
                <a:latin typeface="Calibri"/>
              </a:rPr>
              <a:t>st</a:t>
            </a:r>
            <a:r>
              <a:rPr lang="en-CA" sz="1500" b="0" i="0" dirty="0">
                <a:solidFill>
                  <a:srgbClr val="AABBCC"/>
                </a:solidFill>
                <a:latin typeface="Calibri"/>
              </a:rPr>
              <a:t>, </a:t>
            </a:r>
            <a:r>
              <a:rPr sz="1500" b="0" i="0" dirty="0">
                <a:solidFill>
                  <a:srgbClr val="AABBCC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dirty="0">
                <a:solidFill>
                  <a:srgbClr val="1B2A4A"/>
                </a:solidFill>
                <a:latin typeface="Calibri"/>
              </a:rPr>
              <a:t>  </a:t>
            </a:r>
            <a:r>
              <a:rPr dirty="0">
                <a:solidFill>
                  <a:srgbClr val="1B2A4A"/>
                </a:solidFill>
                <a:latin typeface="Calibri"/>
              </a:rPr>
              <a:t>1.  Problem &amp; Motivation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2.  Dataset Overview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3.  Data Preprocessing &amp; EDA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4.  Methodology </a:t>
            </a:r>
            <a:r>
              <a:rPr lang="en-CA" dirty="0">
                <a:solidFill>
                  <a:srgbClr val="1B2A4A"/>
                </a:solidFill>
                <a:latin typeface="Calibri"/>
              </a:rPr>
              <a:t>-</a:t>
            </a:r>
            <a:r>
              <a:rPr dirty="0">
                <a:solidFill>
                  <a:srgbClr val="1B2A4A"/>
                </a:solidFill>
                <a:latin typeface="Calibri"/>
              </a:rPr>
              <a:t> Models &amp; Training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5.  Hyperparameter Tuning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6.  Results &amp; Model Comparison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7.  Key Findings &amp; Feature Importance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8.  Sensitivity Analysis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9.  Conclusion &amp; Future Work</a:t>
            </a:r>
          </a:p>
          <a:p>
            <a:pPr algn="l"/>
            <a:r>
              <a:rPr dirty="0">
                <a:solidFill>
                  <a:srgbClr val="1B2A4A"/>
                </a:solidFill>
                <a:latin typeface="Calibri"/>
              </a:rPr>
              <a:t>  10. Work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52697" y="1590012"/>
            <a:ext cx="523860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The Problem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Cardiovascular disease: ~17.9M deaths/year (WHO, 2021)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32% of all global deaths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Early detection significantly improves patient outcomes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Diagnosis requires juggling many clinical variables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2697" y="3252506"/>
            <a:ext cx="469834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Our Approach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Can ML find patterns that assist clinicians?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Goal: predict heart disease from standard test results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Target: 80%+ accuracy on a binary classification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199" y="1188720"/>
            <a:ext cx="427534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86AB"/>
                </a:solidFill>
                <a:latin typeface="Calibri"/>
              </a:rPr>
              <a:t>Source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UCI Heart Disease Dataset (Janosi et al., 1988)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Combined 4 regional sources: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   Cleveland Clinic Foundation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   Hungarian Institute of Cardiology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   University Hospital, Switzerland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   Long Beach VA Medical Center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916 total patient records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13 clinical features + 1 target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72482"/>
            <a:ext cx="393192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Target Variable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Target: 0 = No Disease, 1 = Disease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Original scale 0–4, binarized for </a:t>
            </a:r>
            <a:r>
              <a:rPr sz="1600" dirty="0">
                <a:solidFill>
                  <a:srgbClr val="1B2A4A"/>
                </a:solidFill>
                <a:latin typeface="Calibri"/>
              </a:rPr>
              <a:t>classification</a:t>
            </a:r>
            <a:endParaRPr sz="15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Class split: 55.2% disease / 44.8% no disease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Balanced enough </a:t>
            </a:r>
            <a:r>
              <a:rPr lang="en-CA" sz="1500" dirty="0">
                <a:solidFill>
                  <a:srgbClr val="1B2A4A"/>
                </a:solidFill>
                <a:latin typeface="Calibri"/>
              </a:rPr>
              <a:t>-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no class weighting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4124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Missing values encoded as '?' 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-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replaced with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NaN</a:t>
            </a:r>
            <a:endParaRPr sz="16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Numerical columns (age,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trestbps</a:t>
            </a:r>
            <a:r>
              <a:rPr sz="16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chol</a:t>
            </a:r>
            <a:r>
              <a:rPr sz="16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thalach</a:t>
            </a:r>
            <a:r>
              <a:rPr sz="16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oldpeak</a:t>
            </a:r>
            <a:r>
              <a:rPr sz="1600" dirty="0">
                <a:solidFill>
                  <a:srgbClr val="1B2A4A"/>
                </a:solidFill>
                <a:latin typeface="Calibri"/>
              </a:rPr>
              <a:t>) 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-&gt;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imputed with median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Categorical columns (cp,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thal</a:t>
            </a:r>
            <a:r>
              <a:rPr sz="1600" dirty="0">
                <a:solidFill>
                  <a:srgbClr val="1B2A4A"/>
                </a:solidFill>
                <a:latin typeface="Calibri"/>
              </a:rPr>
              <a:t>, ca, slope...) 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-&gt;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imputed with mode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Outliers removed using IQR method (3×IQR threshold 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-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conservative)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StandardScaler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applied to 5 numerical features (zero mean, unit variance)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Scaler fit on training data only 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-&gt;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prevents data leakage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Categorical features left as integer-encoded</a:t>
            </a:r>
            <a:r>
              <a:rPr lang="en-CA" sz="1600" dirty="0">
                <a:solidFill>
                  <a:srgbClr val="1B2A4A"/>
                </a:solidFill>
                <a:latin typeface="Calibri"/>
              </a:rPr>
              <a:t> </a:t>
            </a:r>
            <a:endParaRPr sz="1600" dirty="0">
              <a:solidFill>
                <a:srgbClr val="1B2A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114800" cy="2571750"/>
          </a:xfrm>
          <a:prstGeom prst="rect">
            <a:avLst/>
          </a:prstGeom>
        </p:spPr>
      </p:pic>
      <p:pic>
        <p:nvPicPr>
          <p:cNvPr id="5" name="Picture 4" descr="cor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114800" cy="2468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420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445A7A"/>
                </a:solidFill>
                <a:latin typeface="Calibri"/>
              </a:rPr>
              <a:t>Figure 1: Class distribution (balanced </a:t>
            </a:r>
            <a:r>
              <a:rPr lang="en-CA" sz="1100" b="0" i="1" dirty="0">
                <a:solidFill>
                  <a:srgbClr val="445A7A"/>
                </a:solidFill>
                <a:latin typeface="Calibri"/>
              </a:rPr>
              <a:t>-</a:t>
            </a:r>
            <a:r>
              <a:rPr sz="1100" b="0" i="1" dirty="0">
                <a:solidFill>
                  <a:srgbClr val="445A7A"/>
                </a:solidFill>
                <a:latin typeface="Calibri"/>
              </a:rPr>
              <a:t> no weighting needed)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934206"/>
            <a:ext cx="4114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445A7A"/>
                </a:solidFill>
                <a:latin typeface="Calibri"/>
              </a:rPr>
              <a:t>Figure 2: Feature correlations </a:t>
            </a:r>
            <a:r>
              <a:rPr lang="en-CA" sz="1100" b="0" i="1" dirty="0">
                <a:solidFill>
                  <a:srgbClr val="445A7A"/>
                </a:solidFill>
                <a:latin typeface="Calibri"/>
              </a:rPr>
              <a:t>-</a:t>
            </a:r>
            <a:r>
              <a:rPr sz="1100" b="0" i="1" dirty="0">
                <a:solidFill>
                  <a:srgbClr val="445A7A"/>
                </a:solidFill>
                <a:latin typeface="Calibri"/>
              </a:rPr>
              <a:t> cp, </a:t>
            </a:r>
            <a:r>
              <a:rPr sz="1100" b="0" i="1" dirty="0" err="1">
                <a:solidFill>
                  <a:srgbClr val="445A7A"/>
                </a:solidFill>
                <a:latin typeface="Calibri"/>
              </a:rPr>
              <a:t>thalach</a:t>
            </a:r>
            <a:r>
              <a:rPr sz="1100" b="0" i="1" dirty="0">
                <a:solidFill>
                  <a:srgbClr val="445A7A"/>
                </a:solidFill>
                <a:latin typeface="Calibri"/>
              </a:rPr>
              <a:t>, </a:t>
            </a:r>
            <a:r>
              <a:rPr sz="1100" b="0" i="1" dirty="0" err="1">
                <a:solidFill>
                  <a:srgbClr val="445A7A"/>
                </a:solidFill>
                <a:latin typeface="Calibri"/>
              </a:rPr>
              <a:t>exang</a:t>
            </a:r>
            <a:r>
              <a:rPr sz="1100" b="0" i="1" dirty="0">
                <a:solidFill>
                  <a:srgbClr val="445A7A"/>
                </a:solidFill>
                <a:latin typeface="Calibri"/>
              </a:rPr>
              <a:t>, ca most predictive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B2A4A"/>
                </a:solidFill>
                <a:latin typeface="Calibri"/>
              </a:rPr>
              <a:t>Methodology </a:t>
            </a:r>
            <a:r>
              <a:rPr lang="en-CA" sz="2800" b="1" i="0" dirty="0">
                <a:solidFill>
                  <a:srgbClr val="1B2A4A"/>
                </a:solidFill>
                <a:latin typeface="Calibri"/>
              </a:rPr>
              <a:t>-</a:t>
            </a:r>
            <a:r>
              <a:rPr sz="2800" b="1" i="0" dirty="0">
                <a:solidFill>
                  <a:srgbClr val="1B2A4A"/>
                </a:solidFill>
                <a:latin typeface="Calibri"/>
              </a:rPr>
              <a:t> Three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06729" y="118357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2E86AB"/>
                </a:solidFill>
                <a:latin typeface="Calibri"/>
              </a:rPr>
              <a:t>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6729" y="1474396"/>
            <a:ext cx="35478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Linear classifier, estimates class probabilities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Interpretable and fast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Requires feature scaling to converge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max_iter</a:t>
            </a:r>
            <a:r>
              <a:rPr sz="1400" dirty="0">
                <a:solidFill>
                  <a:srgbClr val="1B2A4A"/>
                </a:solidFill>
                <a:latin typeface="Calibri"/>
              </a:rPr>
              <a:t>=1000,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random_state</a:t>
            </a:r>
            <a:r>
              <a:rPr sz="1400" dirty="0">
                <a:solidFill>
                  <a:srgbClr val="1B2A4A"/>
                </a:solidFill>
                <a:latin typeface="Calibri"/>
              </a:rPr>
              <a:t>=42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6729" y="25620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2E86AB"/>
                </a:solidFill>
                <a:latin typeface="Calibri"/>
              </a:rPr>
              <a:t>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74610" y="2902037"/>
            <a:ext cx="325938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Binary </a:t>
            </a:r>
            <a:r>
              <a:rPr sz="1600" dirty="0">
                <a:solidFill>
                  <a:srgbClr val="1B2A4A"/>
                </a:solidFill>
                <a:latin typeface="Calibri"/>
              </a:rPr>
              <a:t>splits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on feature values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Highly interpretable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Prone to overfitting without depth limits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random_state</a:t>
            </a:r>
            <a:r>
              <a:rPr sz="1400" dirty="0">
                <a:solidFill>
                  <a:srgbClr val="1B2A4A"/>
                </a:solidFill>
                <a:latin typeface="Calibri"/>
              </a:rPr>
              <a:t>=42, default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610" y="40492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2E86AB"/>
                </a:solidFill>
                <a:latin typeface="Calibr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1407" y="4399920"/>
            <a:ext cx="33784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Ensemble of many decision trees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Reduces variance by averaging predictions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Provides feature importance scores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100 estimators,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random_state</a:t>
            </a:r>
            <a:r>
              <a:rPr sz="1400" dirty="0">
                <a:solidFill>
                  <a:srgbClr val="1B2A4A"/>
                </a:solidFill>
                <a:latin typeface="Calibri"/>
              </a:rPr>
              <a:t>=42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876913"/>
            <a:ext cx="8412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445A7A"/>
                </a:solidFill>
                <a:latin typeface="Calibri"/>
              </a:rPr>
              <a:t>Data split: 80% train (732 samples) / 20% test (184 samples) </a:t>
            </a:r>
            <a:r>
              <a:rPr lang="en-CA" sz="1500" b="0" i="0" dirty="0">
                <a:solidFill>
                  <a:srgbClr val="445A7A"/>
                </a:solidFill>
                <a:latin typeface="Calibri"/>
              </a:rPr>
              <a:t>-</a:t>
            </a:r>
            <a:r>
              <a:rPr sz="1500" b="0" i="0" dirty="0">
                <a:solidFill>
                  <a:srgbClr val="445A7A"/>
                </a:solidFill>
                <a:latin typeface="Calibri"/>
              </a:rPr>
              <a:t> stratified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" y="6203651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445A7A"/>
                </a:solidFill>
                <a:latin typeface="Calibri"/>
              </a:rPr>
              <a:t>Metrics: Accuracy  |  Precision  |  Recall  |  F1-Score  |  ROC-AUC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Hyperparameter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45A7A"/>
                </a:solidFill>
                <a:latin typeface="Calibri"/>
              </a:rPr>
              <a:t>GridSearchCV with 5-Fold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65176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86AB"/>
                </a:solidFill>
                <a:latin typeface="Calibri"/>
              </a:rPr>
              <a:t>Logistic Regression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C ∈ {0.001, 0.01, 0.1, 1, 10}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solver ∈ {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lbfgs</a:t>
            </a:r>
            <a:r>
              <a:rPr sz="1600" dirty="0">
                <a:solidFill>
                  <a:srgbClr val="1B2A4A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liblinear</a:t>
            </a:r>
            <a:r>
              <a:rPr sz="1600" dirty="0">
                <a:solidFill>
                  <a:srgbClr val="1B2A4A"/>
                </a:solidFill>
                <a:latin typeface="Calibri"/>
              </a:rPr>
              <a:t>}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Best: C=10, solver=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liblinear</a:t>
            </a:r>
            <a:endParaRPr sz="160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8960" y="1837558"/>
            <a:ext cx="31127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E86AB"/>
                </a:solidFill>
                <a:latin typeface="Calibri"/>
              </a:rPr>
              <a:t>Decision Tree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max_depth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∈ {3, 5, 10, 15, None}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min_samples_split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∈ {2, 5, 10}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600" dirty="0" err="1">
                <a:solidFill>
                  <a:srgbClr val="1B2A4A"/>
                </a:solidFill>
                <a:latin typeface="Calibri"/>
              </a:rPr>
              <a:t>min_samples_leaf</a:t>
            </a:r>
            <a:r>
              <a:rPr sz="1600" dirty="0">
                <a:solidFill>
                  <a:srgbClr val="1B2A4A"/>
                </a:solidFill>
                <a:latin typeface="Calibri"/>
              </a:rPr>
              <a:t> ∈ {1, 2, 4}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Best: depth=3, leaf=4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0882" y="1828800"/>
            <a:ext cx="28346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2E86AB"/>
                </a:solidFill>
                <a:latin typeface="Calibri"/>
              </a:rPr>
              <a:t>Random Forest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n_estimators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∈ {100, 200}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max_depth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∈ {5, 10, 15, None}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min_samples_split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∈ {2, 5, 10}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Best: 200 </a:t>
            </a:r>
            <a:r>
              <a:rPr sz="1600" dirty="0">
                <a:solidFill>
                  <a:srgbClr val="1B2A4A"/>
                </a:solidFill>
                <a:latin typeface="Calibri"/>
              </a:rPr>
              <a:t>trees</a:t>
            </a:r>
            <a:r>
              <a:rPr sz="1400" dirty="0">
                <a:solidFill>
                  <a:srgbClr val="1B2A4A"/>
                </a:solidFill>
                <a:latin typeface="Calibri"/>
              </a:rPr>
              <a:t>, depth=15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445A7A"/>
                </a:solidFill>
                <a:latin typeface="Calibri"/>
              </a:rPr>
              <a:t>Best model saved as </a:t>
            </a:r>
            <a:r>
              <a:rPr sz="1400" b="0" i="1" dirty="0" err="1">
                <a:solidFill>
                  <a:srgbClr val="445A7A"/>
                </a:solidFill>
                <a:latin typeface="Calibri"/>
              </a:rPr>
              <a:t>best_model.joblib</a:t>
            </a:r>
            <a:r>
              <a:rPr sz="1400" b="0" i="1" dirty="0">
                <a:solidFill>
                  <a:srgbClr val="445A7A"/>
                </a:solidFill>
                <a:latin typeface="Calibri"/>
              </a:rPr>
              <a:t> for prediction and evaluation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B2A4A"/>
                </a:solidFill>
                <a:latin typeface="Calibri"/>
              </a:rPr>
              <a:t>Results </a:t>
            </a:r>
            <a:r>
              <a:rPr lang="en-CA" sz="2800" b="1" i="0" dirty="0">
                <a:solidFill>
                  <a:srgbClr val="1B2A4A"/>
                </a:solidFill>
                <a:latin typeface="Calibri"/>
              </a:rPr>
              <a:t>-</a:t>
            </a:r>
            <a:r>
              <a:rPr sz="2800" b="1" i="0" dirty="0">
                <a:solidFill>
                  <a:srgbClr val="1B2A4A"/>
                </a:solidFill>
                <a:latin typeface="Calibri"/>
              </a:rPr>
              <a:t> All Six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5047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447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445A7A"/>
                </a:solidFill>
                <a:latin typeface="Calibri"/>
              </a:rPr>
              <a:t>Figure 3: Accuracy &amp; ROC-AUC for all 6 models. Red line = 80% target.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B2A4A"/>
                </a:solidFill>
                <a:latin typeface="Calibri"/>
              </a:rPr>
              <a:t>Best Model </a:t>
            </a:r>
            <a:r>
              <a:rPr lang="en-CA" sz="2600" b="1" i="0" dirty="0">
                <a:solidFill>
                  <a:srgbClr val="1B2A4A"/>
                </a:solidFill>
                <a:latin typeface="Calibri"/>
              </a:rPr>
              <a:t>-</a:t>
            </a:r>
            <a:r>
              <a:rPr sz="2600" b="1" i="0" dirty="0">
                <a:solidFill>
                  <a:srgbClr val="1B2A4A"/>
                </a:solidFill>
                <a:latin typeface="Calibri"/>
              </a:rPr>
              <a:t> Random Forest (Tuned)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114800" cy="3429000"/>
          </a:xfrm>
          <a:prstGeom prst="rect">
            <a:avLst/>
          </a:prstGeom>
        </p:spPr>
      </p:pic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114800" cy="3086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777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2E86AB"/>
                </a:solidFill>
                <a:latin typeface="Calibri"/>
              </a:rPr>
              <a:t>83.70% accuracy  |  ROC-AUC: 0.909  |  F1: 0.834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31399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B2A4A"/>
                </a:solidFill>
                <a:latin typeface="Calibri"/>
              </a:rPr>
              <a:t>95/102 disease patients correctly identified (93.1% recall on positive class)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2A4A"/>
                </a:solidFill>
                <a:latin typeface="Calibri"/>
              </a:rPr>
              <a:t>Feature Importance &amp; Precision/Recall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06240" cy="3154680"/>
          </a:xfrm>
          <a:prstGeom prst="rect">
            <a:avLst/>
          </a:prstGeom>
        </p:spPr>
      </p:pic>
      <p:pic>
        <p:nvPicPr>
          <p:cNvPr id="5" name="Picture 4" descr="precision_recall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02336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302051"/>
            <a:ext cx="8412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E86AB"/>
                </a:solidFill>
                <a:latin typeface="Calibri"/>
              </a:rPr>
              <a:t>Top predictors: chest pain type (</a:t>
            </a:r>
            <a:r>
              <a:rPr b="1" i="0" dirty="0">
                <a:solidFill>
                  <a:srgbClr val="2E86AB"/>
                </a:solidFill>
                <a:latin typeface="Calibri"/>
              </a:rPr>
              <a:t>cp</a:t>
            </a:r>
            <a:r>
              <a:rPr sz="1600" b="1" i="0" dirty="0">
                <a:solidFill>
                  <a:srgbClr val="2E86AB"/>
                </a:solidFill>
                <a:latin typeface="Calibri"/>
              </a:rPr>
              <a:t>),</a:t>
            </a:r>
            <a:r>
              <a:rPr sz="1400" b="1" i="0" dirty="0">
                <a:solidFill>
                  <a:srgbClr val="2E86AB"/>
                </a:solidFill>
                <a:latin typeface="Calibri"/>
              </a:rPr>
              <a:t> max heart rate (</a:t>
            </a:r>
            <a:r>
              <a:rPr sz="1600" b="1" i="0" dirty="0" err="1">
                <a:solidFill>
                  <a:srgbClr val="2E86AB"/>
                </a:solidFill>
                <a:latin typeface="Calibri"/>
              </a:rPr>
              <a:t>thalach</a:t>
            </a:r>
            <a:r>
              <a:rPr sz="1400" b="1" i="0" dirty="0">
                <a:solidFill>
                  <a:srgbClr val="2E86AB"/>
                </a:solidFill>
                <a:latin typeface="Calibri"/>
              </a:rPr>
              <a:t>), major vessels (ca)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2551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1B2A4A"/>
                </a:solidFill>
                <a:latin typeface="Calibri"/>
              </a:rPr>
              <a:t>These align with features cardiologists already use</a:t>
            </a:r>
            <a:r>
              <a:rPr lang="en-CA" sz="1300" b="0" i="1" dirty="0">
                <a:solidFill>
                  <a:srgbClr val="1B2A4A"/>
                </a:solidFill>
                <a:latin typeface="Calibri"/>
              </a:rPr>
              <a:t>,</a:t>
            </a:r>
            <a:r>
              <a:rPr sz="1300" b="0" i="1" dirty="0">
                <a:solidFill>
                  <a:srgbClr val="1B2A4A"/>
                </a:solidFill>
                <a:latin typeface="Calibri"/>
              </a:rPr>
              <a:t> model is learning real clinical signal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Sensitivity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77440" y="1398620"/>
            <a:ext cx="43891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E86AB"/>
                </a:solidFill>
                <a:latin typeface="Calibri"/>
              </a:rPr>
              <a:t>CV Stability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5-fold CV on full dataset (tuned RF)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Fold range: 62.8% – 83.6%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Mean accuracy: 76.1%  |  Std: 7.7%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Wider variance expected with only 916 samples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83.70% test accuracy sits on the higher end</a:t>
            </a:r>
          </a:p>
          <a:p>
            <a:pPr algn="l"/>
            <a:r>
              <a:rPr sz="1600" dirty="0">
                <a:solidFill>
                  <a:srgbClr val="1B2A4A"/>
                </a:solidFill>
                <a:latin typeface="Calibri"/>
              </a:rPr>
              <a:t>  Larger dataset would give more stable estimates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2326" y="3659694"/>
            <a:ext cx="4493124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Feature Ablation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Drop cp → accuracy drops 2.7%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Drop ca → accuracy drops 1.1%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Drop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thalach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→ almost no effect alone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Drop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chol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/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fbs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/ </a:t>
            </a:r>
            <a:r>
              <a:rPr sz="1500" dirty="0" err="1">
                <a:solidFill>
                  <a:srgbClr val="1B2A4A"/>
                </a:solidFill>
                <a:latin typeface="Calibri"/>
              </a:rPr>
              <a:t>restecg</a:t>
            </a:r>
            <a:r>
              <a:rPr sz="1500" dirty="0">
                <a:solidFill>
                  <a:srgbClr val="1B2A4A"/>
                </a:solidFill>
                <a:latin typeface="Calibri"/>
              </a:rPr>
              <a:t> → no meaningful change</a:t>
            </a:r>
          </a:p>
          <a:p>
            <a:pPr algn="l"/>
            <a:r>
              <a:rPr sz="1500" dirty="0">
                <a:solidFill>
                  <a:srgbClr val="1B2A4A"/>
                </a:solidFill>
                <a:latin typeface="Calibri"/>
              </a:rPr>
              <a:t>  A small set of clinical variables drives most predictions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4530" y="1474098"/>
            <a:ext cx="466623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Key Findings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Tuned Random Forest: best model at 83.70% accuracy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Exceeded the 80% project </a:t>
            </a:r>
            <a:r>
              <a:rPr sz="1600" dirty="0">
                <a:solidFill>
                  <a:srgbClr val="1B2A4A"/>
                </a:solidFill>
                <a:latin typeface="Calibri"/>
              </a:rPr>
              <a:t>target</a:t>
            </a:r>
            <a:endParaRPr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Top features align with clinical practice (cp,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thalach</a:t>
            </a:r>
            <a:r>
              <a:rPr sz="1400" dirty="0">
                <a:solidFill>
                  <a:srgbClr val="1B2A4A"/>
                </a:solidFill>
                <a:latin typeface="Calibri"/>
              </a:rPr>
              <a:t>, ca)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Logistic Regression competitive at 81.52%, highest ROC-AUC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Decision Tree improved most from tuning (70% → 75%)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Combining all 4 regional datasets improved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4530" y="3844316"/>
            <a:ext cx="445752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2E86AB"/>
                </a:solidFill>
                <a:latin typeface="Calibri"/>
              </a:rPr>
              <a:t>Limitations &amp; Future Work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Dataset is small (916 samples) limits deep </a:t>
            </a:r>
            <a:r>
              <a:rPr sz="1600" dirty="0">
                <a:solidFill>
                  <a:srgbClr val="1B2A4A"/>
                </a:solidFill>
                <a:latin typeface="Calibri"/>
              </a:rPr>
              <a:t>learning</a:t>
            </a:r>
            <a:endParaRPr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High missing values in Switzerland &amp; VA subsets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Single train/test split results may vary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Try Gradient Boosting / 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XGBoost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next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More patient data &amp; features would help generalization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Could package best model as a clinical decision tool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Calibri"/>
              </a:rPr>
              <a:t>Work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Michael Marsillo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1B2A4A"/>
                </a:solidFill>
              </a:rPr>
              <a:t>  Phase 1: Data loading &amp; raw data setup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 </a:t>
            </a:r>
            <a:endParaRPr lang="en-CA"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lang="en-CA"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>
                <a:solidFill>
                  <a:srgbClr val="1B2A4A"/>
                </a:solidFill>
                <a:latin typeface="Calibri"/>
              </a:rPr>
              <a:t>Phase 3: Feature engineering &amp; train/test split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Phase 5: Hyperparameter tuning (</a:t>
            </a:r>
            <a:r>
              <a:rPr sz="1400" dirty="0" err="1">
                <a:solidFill>
                  <a:srgbClr val="1B2A4A"/>
                </a:solidFill>
                <a:latin typeface="Calibri"/>
              </a:rPr>
              <a:t>GridSearchCV</a:t>
            </a:r>
            <a:r>
              <a:rPr sz="1400" dirty="0">
                <a:solidFill>
                  <a:srgbClr val="1B2A4A"/>
                </a:solidFill>
                <a:latin typeface="Calibri"/>
              </a:rPr>
              <a:t>)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Phase 7: Visualization scripts (all 5 plots)</a:t>
            </a:r>
            <a:endParaRPr lang="en-CA" sz="1400" dirty="0">
              <a:solidFill>
                <a:srgbClr val="1B2A4A"/>
              </a:solidFill>
              <a:latin typeface="Calibri"/>
            </a:endParaRPr>
          </a:p>
          <a:p>
            <a:r>
              <a:rPr lang="en-CA" sz="1400" dirty="0">
                <a:solidFill>
                  <a:srgbClr val="1B2A4A"/>
                </a:solidFill>
              </a:rPr>
              <a:t>  Project abstract</a:t>
            </a:r>
            <a:endParaRPr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lang="en-CA"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>
                <a:solidFill>
                  <a:srgbClr val="1B2A4A"/>
                </a:solidFill>
                <a:latin typeface="Calibri"/>
              </a:rPr>
              <a:t>Final report writing &amp; editing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CA" sz="1400" dirty="0">
                <a:solidFill>
                  <a:srgbClr val="1B2A4A"/>
                </a:solidFill>
                <a:latin typeface="Calibri"/>
              </a:rPr>
              <a:t> </a:t>
            </a:r>
            <a:r>
              <a:rPr sz="1400" dirty="0">
                <a:solidFill>
                  <a:srgbClr val="1B2A4A"/>
                </a:solidFill>
                <a:latin typeface="Calibri"/>
              </a:rPr>
              <a:t>Presentation preparation</a:t>
            </a:r>
            <a:endParaRPr lang="en-CA" sz="1400" dirty="0">
              <a:solidFill>
                <a:srgbClr val="1B2A4A"/>
              </a:solidFill>
              <a:latin typeface="Calibri"/>
            </a:endParaRPr>
          </a:p>
          <a:p>
            <a:r>
              <a:rPr lang="en-CA"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lang="en-CA" sz="1400" dirty="0">
                <a:solidFill>
                  <a:srgbClr val="1B2A4A"/>
                </a:solidFill>
              </a:rPr>
              <a:t>Presentation recording</a:t>
            </a:r>
            <a:endParaRPr sz="140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86AB"/>
                </a:solidFill>
                <a:latin typeface="Calibri"/>
              </a:rPr>
              <a:t>Gurshan Sidhar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4023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400" dirty="0">
                <a:solidFill>
                  <a:srgbClr val="1B2A4A"/>
                </a:solidFill>
                <a:latin typeface="Calibri"/>
              </a:rPr>
              <a:t>  </a:t>
            </a:r>
            <a:r>
              <a:rPr sz="1400" dirty="0">
                <a:solidFill>
                  <a:srgbClr val="1B2A4A"/>
                </a:solidFill>
                <a:latin typeface="Calibri"/>
              </a:rPr>
              <a:t>Phase 2: Exploratory data analysis (EDA notebook)</a:t>
            </a:r>
          </a:p>
          <a:p>
            <a:pPr algn="l"/>
            <a:r>
              <a:rPr lang="en-CA" sz="1400" dirty="0">
                <a:solidFill>
                  <a:srgbClr val="1B2A4A"/>
                </a:solidFill>
                <a:latin typeface="Calibri"/>
              </a:rPr>
              <a:t> </a:t>
            </a:r>
            <a:r>
              <a:rPr sz="1400" dirty="0">
                <a:solidFill>
                  <a:srgbClr val="1B2A4A"/>
                </a:solidFill>
                <a:latin typeface="Calibri"/>
              </a:rPr>
              <a:t> Phase 4: Model training (LR, DT, RF baseline)</a:t>
            </a: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Phase 6: predict_model.py &amp; evaluate_models.py</a:t>
            </a:r>
            <a:endParaRPr lang="en-CA" sz="1400" dirty="0">
              <a:solidFill>
                <a:srgbClr val="1B2A4A"/>
              </a:solidFill>
              <a:latin typeface="Calibri"/>
            </a:endParaRPr>
          </a:p>
          <a:p>
            <a:r>
              <a:rPr lang="en-US" sz="1400" dirty="0">
                <a:solidFill>
                  <a:srgbClr val="1B2A4A"/>
                </a:solidFill>
              </a:rPr>
              <a:t>  Phase 8: main.py pipeline orchestration</a:t>
            </a:r>
          </a:p>
          <a:p>
            <a:r>
              <a:rPr lang="en-CA" sz="1400" dirty="0">
                <a:solidFill>
                  <a:srgbClr val="1B2A4A"/>
                </a:solidFill>
              </a:rPr>
              <a:t>  Project abstract</a:t>
            </a:r>
            <a:endParaRPr lang="en-US" sz="1400" dirty="0">
              <a:solidFill>
                <a:srgbClr val="1B2A4A"/>
              </a:solidFill>
            </a:endParaRPr>
          </a:p>
          <a:p>
            <a:r>
              <a:rPr lang="en-CA" sz="1400" dirty="0">
                <a:solidFill>
                  <a:srgbClr val="1B2A4A"/>
                </a:solidFill>
              </a:rPr>
              <a:t>  Final report writing &amp; editing</a:t>
            </a:r>
            <a:endParaRPr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sz="1400" dirty="0">
                <a:solidFill>
                  <a:srgbClr val="1B2A4A"/>
                </a:solidFill>
                <a:latin typeface="Calibri"/>
              </a:rPr>
              <a:t>  Dataset research</a:t>
            </a:r>
            <a:endParaRPr lang="en-CA" sz="1400" dirty="0">
              <a:solidFill>
                <a:srgbClr val="1B2A4A"/>
              </a:solidFill>
              <a:latin typeface="Calibri"/>
            </a:endParaRPr>
          </a:p>
          <a:p>
            <a:pPr algn="l"/>
            <a:r>
              <a:rPr lang="en-CA" sz="1400" dirty="0">
                <a:solidFill>
                  <a:srgbClr val="1B2A4A"/>
                </a:solidFill>
                <a:latin typeface="Calibri"/>
              </a:rPr>
              <a:t>  Presentation recording</a:t>
            </a:r>
            <a:endParaRPr sz="1400" dirty="0">
              <a:solidFill>
                <a:srgbClr val="1B2A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878128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2400" b="0" i="0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3749039"/>
            <a:ext cx="8412480" cy="9144"/>
          </a:xfrm>
          <a:prstGeom prst="rect">
            <a:avLst/>
          </a:prstGeom>
          <a:noFill/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Michael Marsillo &amp; Gurshan Sidhar  |  CP322  |  Wilfrid Laurier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1128</Words>
  <Application>Microsoft Office PowerPoint</Application>
  <PresentationFormat>On-screen Show (4:3)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michael marsillo</dc:creator>
  <cp:keywords/>
  <dc:description>generated using python-pptx</dc:description>
  <cp:lastModifiedBy>michael marsillo</cp:lastModifiedBy>
  <cp:revision>7</cp:revision>
  <dcterms:created xsi:type="dcterms:W3CDTF">2013-01-27T09:14:16Z</dcterms:created>
  <dcterms:modified xsi:type="dcterms:W3CDTF">2026-04-01T18:56:10Z</dcterms:modified>
  <cp:category/>
</cp:coreProperties>
</file>